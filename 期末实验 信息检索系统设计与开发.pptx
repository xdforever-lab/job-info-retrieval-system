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96" r:id="rId3"/>
    <p:sldId id="297" r:id="rId4"/>
    <p:sldId id="298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656"/>
    <p:restoredTop sz="96327"/>
  </p:normalViewPr>
  <p:slideViewPr>
    <p:cSldViewPr snapToGrid="0" snapToObjects="1" showGuides="1">
      <p:cViewPr varScale="1">
        <p:scale>
          <a:sx n="93" d="100"/>
          <a:sy n="93" d="100"/>
        </p:scale>
        <p:origin x="224" y="632"/>
      </p:cViewPr>
      <p:guideLst>
        <p:guide orient="horz" pos="2137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BCB5A-85E8-AD40-A2E8-D498361DF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49DF0A-9894-F247-AF82-6C03276A7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2CC1A5-1B05-0F47-BD2A-CD55DDD3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C382-543E-EE42-AC14-7F58924E3D3E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031169-A611-0D40-975F-883D6CCF9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92A4A4-CB9A-844D-85CC-A35072130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F452-3C92-1C4D-9EDF-5201CB85BC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038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295DAC-C8B4-BC41-BE03-511167502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258455-942A-2345-8AF0-F9767AE5A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C66D82-EBFB-8740-8837-6AD4C37D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C382-543E-EE42-AC14-7F58924E3D3E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74F121-2323-D342-93D2-13F9D6BAE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C3D5F8-27D5-104C-9491-AE70F401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F452-3C92-1C4D-9EDF-5201CB85BC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948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AD089-CF49-F946-B9E0-A3852E8A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C144DB-936E-F740-AA55-09017BFD1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2DDC76-8DE2-B147-9EBD-37D11DCE9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C382-543E-EE42-AC14-7F58924E3D3E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0DFA66-3DFB-F047-8489-D1C9C965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7B16F-86FB-3449-BD82-8ADE3B7E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F452-3C92-1C4D-9EDF-5201CB85BC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3442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5DCDE5-E4D9-DA47-B77B-19592880F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8CC158-BCDA-1D44-AB2C-B0A5C061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AC76FD-8979-B84D-879E-D94F4643E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700502-E01F-7C4C-9C8A-0DEBCBC8A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C382-543E-EE42-AC14-7F58924E3D3E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1220A9-6A84-2047-B064-3DEB00C0E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7485CC-4382-5A40-96B2-65ADB6B5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F452-3C92-1C4D-9EDF-5201CB85BC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8367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02308-2227-E64A-831A-D772A3FE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57A25A-32D8-1E49-B703-ADCB12C70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B8B3EB-77DD-B545-8C62-275CD133A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6B63C2-7414-B84B-9A07-13363AE88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BE39817-1D30-9D47-A173-38A6BD9B85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CE72D7A-B61E-FB45-BD05-26A2AF781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C382-543E-EE42-AC14-7F58924E3D3E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DD0109-DDA9-AD49-AEE3-88D34321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DB8B8E-330A-B148-B459-FB743AD5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F452-3C92-1C4D-9EDF-5201CB85BC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6863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660DE-F3F1-EE45-8026-C7772C627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BE157F-899E-D044-BF96-1AB5E57B5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C382-543E-EE42-AC14-7F58924E3D3E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C4DDF2-5F35-264F-9E86-EA53F1AC3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B7A27A-E9BA-5E47-AF6E-F84C60974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F452-3C92-1C4D-9EDF-5201CB85BC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7644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151ADE-502B-5C45-B5A7-569BCA22E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C382-543E-EE42-AC14-7F58924E3D3E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C7C779-A526-B44F-8A98-5A66CA4FF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3BBCC0-B7D6-DD48-B15A-B24CB923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F452-3C92-1C4D-9EDF-5201CB85BC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2225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2F6481-7719-BF40-AB9E-0DBEAD1F6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EB965E-012A-CB4B-BF66-57EA8842F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76DF9B-EB49-754C-9D51-B01674750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E35F69-6D6B-914B-A6D6-90E8BC51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C382-543E-EE42-AC14-7F58924E3D3E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A5EEB1-F290-7745-966B-81B017CC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F06DB4-0452-8240-9047-7BF77964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F452-3C92-1C4D-9EDF-5201CB85BC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1606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A6D2EE-2D1D-394B-8D9C-243469CB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2C8081D-DA79-7942-BC29-30FCA9BC81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3ADBB8-0435-2C47-AC38-B37A90DCE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96513C-F9FE-3C46-BFE1-D47D2416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C382-543E-EE42-AC14-7F58924E3D3E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B46446-6489-9044-8750-6EDDD58F5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BF1E85-3877-184D-8A45-821A65667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F452-3C92-1C4D-9EDF-5201CB85BC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506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B6729-1059-CD43-9FD8-C998C82D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8FA3E1-7CF7-F741-A3E6-D293C4470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B96299-1C0C-0040-9D90-84F1713F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C382-543E-EE42-AC14-7F58924E3D3E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025942-4DF1-4E43-9419-B08D17211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872D8C-D70C-0C45-B024-2E8B3361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F452-3C92-1C4D-9EDF-5201CB85BC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4352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BD42D2-43DD-644B-B0E4-5B0D65BD5C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4AFC42-5FE5-C34B-ABCB-987E51DC3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FD5585-43E6-ED45-945E-E0DEA3A4C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C382-543E-EE42-AC14-7F58924E3D3E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603675-5863-9C40-B2DF-D49725B6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92230A-04EC-7941-BA8B-EBC1BB43B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F452-3C92-1C4D-9EDF-5201CB85BC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9306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4522470" y="0"/>
            <a:ext cx="7667244" cy="6857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047601" y="0"/>
                </a:moveTo>
                <a:lnTo>
                  <a:pt x="0" y="0"/>
                </a:lnTo>
                <a:lnTo>
                  <a:pt x="0" y="6858000"/>
                </a:lnTo>
                <a:lnTo>
                  <a:pt x="12191999" y="6858000"/>
                </a:lnTo>
                <a:lnTo>
                  <a:pt x="11900970" y="6743881"/>
                </a:lnTo>
                <a:lnTo>
                  <a:pt x="11702333" y="6662448"/>
                </a:lnTo>
                <a:lnTo>
                  <a:pt x="11548107" y="6596265"/>
                </a:lnTo>
                <a:lnTo>
                  <a:pt x="11434794" y="6545549"/>
                </a:lnTo>
                <a:lnTo>
                  <a:pt x="11323231" y="6493568"/>
                </a:lnTo>
                <a:lnTo>
                  <a:pt x="11249710" y="6458060"/>
                </a:lnTo>
                <a:lnTo>
                  <a:pt x="11176787" y="6421765"/>
                </a:lnTo>
                <a:lnTo>
                  <a:pt x="11104392" y="6384591"/>
                </a:lnTo>
                <a:lnTo>
                  <a:pt x="11032452" y="6346448"/>
                </a:lnTo>
                <a:lnTo>
                  <a:pt x="10960896" y="6307245"/>
                </a:lnTo>
                <a:lnTo>
                  <a:pt x="10889653" y="6266893"/>
                </a:lnTo>
                <a:lnTo>
                  <a:pt x="10818650" y="6225300"/>
                </a:lnTo>
                <a:lnTo>
                  <a:pt x="10783216" y="6204010"/>
                </a:lnTo>
                <a:lnTo>
                  <a:pt x="10747816" y="6182377"/>
                </a:lnTo>
                <a:lnTo>
                  <a:pt x="10712440" y="6160388"/>
                </a:lnTo>
                <a:lnTo>
                  <a:pt x="10677079" y="6138032"/>
                </a:lnTo>
                <a:lnTo>
                  <a:pt x="10641725" y="6115298"/>
                </a:lnTo>
                <a:lnTo>
                  <a:pt x="10606368" y="6092176"/>
                </a:lnTo>
                <a:lnTo>
                  <a:pt x="10571000" y="6068652"/>
                </a:lnTo>
                <a:lnTo>
                  <a:pt x="10535611" y="6044717"/>
                </a:lnTo>
                <a:lnTo>
                  <a:pt x="10500193" y="6020359"/>
                </a:lnTo>
                <a:lnTo>
                  <a:pt x="10464736" y="5995566"/>
                </a:lnTo>
                <a:lnTo>
                  <a:pt x="10429232" y="5970328"/>
                </a:lnTo>
                <a:lnTo>
                  <a:pt x="10393672" y="5944632"/>
                </a:lnTo>
                <a:lnTo>
                  <a:pt x="10358046" y="5918468"/>
                </a:lnTo>
                <a:lnTo>
                  <a:pt x="10322346" y="5891825"/>
                </a:lnTo>
                <a:lnTo>
                  <a:pt x="10286563" y="5864690"/>
                </a:lnTo>
                <a:lnTo>
                  <a:pt x="10250688" y="5837054"/>
                </a:lnTo>
                <a:lnTo>
                  <a:pt x="10214712" y="5808903"/>
                </a:lnTo>
                <a:lnTo>
                  <a:pt x="10178626" y="5780228"/>
                </a:lnTo>
                <a:lnTo>
                  <a:pt x="10142420" y="5751017"/>
                </a:lnTo>
                <a:lnTo>
                  <a:pt x="10106087" y="5721258"/>
                </a:lnTo>
                <a:lnTo>
                  <a:pt x="10069617" y="5690940"/>
                </a:lnTo>
                <a:lnTo>
                  <a:pt x="10033001" y="5660052"/>
                </a:lnTo>
                <a:lnTo>
                  <a:pt x="9996230" y="5628583"/>
                </a:lnTo>
                <a:lnTo>
                  <a:pt x="9959295" y="5596521"/>
                </a:lnTo>
                <a:lnTo>
                  <a:pt x="9922187" y="5563855"/>
                </a:lnTo>
                <a:lnTo>
                  <a:pt x="9884898" y="5530574"/>
                </a:lnTo>
                <a:lnTo>
                  <a:pt x="9847418" y="5496666"/>
                </a:lnTo>
                <a:lnTo>
                  <a:pt x="9809738" y="5462120"/>
                </a:lnTo>
                <a:lnTo>
                  <a:pt x="9771850" y="5426925"/>
                </a:lnTo>
                <a:lnTo>
                  <a:pt x="9733744" y="5391069"/>
                </a:lnTo>
                <a:lnTo>
                  <a:pt x="9695411" y="5354541"/>
                </a:lnTo>
                <a:lnTo>
                  <a:pt x="9656843" y="5317331"/>
                </a:lnTo>
                <a:lnTo>
                  <a:pt x="9618031" y="5279426"/>
                </a:lnTo>
                <a:lnTo>
                  <a:pt x="9578965" y="5240815"/>
                </a:lnTo>
                <a:lnTo>
                  <a:pt x="9539637" y="5201487"/>
                </a:lnTo>
                <a:lnTo>
                  <a:pt x="9500038" y="5161430"/>
                </a:lnTo>
                <a:lnTo>
                  <a:pt x="9460158" y="5120634"/>
                </a:lnTo>
                <a:lnTo>
                  <a:pt x="9419989" y="5079087"/>
                </a:lnTo>
                <a:lnTo>
                  <a:pt x="9379522" y="5036778"/>
                </a:lnTo>
                <a:lnTo>
                  <a:pt x="9338748" y="4993695"/>
                </a:lnTo>
                <a:lnTo>
                  <a:pt x="9297657" y="4949827"/>
                </a:lnTo>
                <a:lnTo>
                  <a:pt x="9256242" y="4905163"/>
                </a:lnTo>
                <a:lnTo>
                  <a:pt x="9214492" y="4859691"/>
                </a:lnTo>
                <a:lnTo>
                  <a:pt x="9172399" y="4813401"/>
                </a:lnTo>
                <a:lnTo>
                  <a:pt x="9129955" y="4766280"/>
                </a:lnTo>
                <a:lnTo>
                  <a:pt x="9087150" y="4718318"/>
                </a:lnTo>
                <a:lnTo>
                  <a:pt x="9043974" y="4669504"/>
                </a:lnTo>
                <a:lnTo>
                  <a:pt x="8956478" y="4569271"/>
                </a:lnTo>
                <a:lnTo>
                  <a:pt x="8867395" y="4465491"/>
                </a:lnTo>
                <a:lnTo>
                  <a:pt x="8776653" y="4358075"/>
                </a:lnTo>
                <a:lnTo>
                  <a:pt x="8684181" y="4246930"/>
                </a:lnTo>
                <a:lnTo>
                  <a:pt x="8589907" y="4131968"/>
                </a:lnTo>
                <a:lnTo>
                  <a:pt x="8493760" y="4013098"/>
                </a:lnTo>
                <a:lnTo>
                  <a:pt x="8405509" y="3888475"/>
                </a:lnTo>
                <a:lnTo>
                  <a:pt x="8288039" y="3720282"/>
                </a:lnTo>
                <a:lnTo>
                  <a:pt x="8111993" y="3464510"/>
                </a:lnTo>
                <a:lnTo>
                  <a:pt x="7610664" y="2728887"/>
                </a:lnTo>
                <a:lnTo>
                  <a:pt x="7491391" y="2555974"/>
                </a:lnTo>
                <a:lnTo>
                  <a:pt x="7401438" y="2426894"/>
                </a:lnTo>
                <a:lnTo>
                  <a:pt x="7310996" y="2298532"/>
                </a:lnTo>
                <a:lnTo>
                  <a:pt x="7220010" y="2171070"/>
                </a:lnTo>
                <a:lnTo>
                  <a:pt x="7159024" y="2086683"/>
                </a:lnTo>
                <a:lnTo>
                  <a:pt x="7097756" y="2002830"/>
                </a:lnTo>
                <a:lnTo>
                  <a:pt x="7036189" y="1919563"/>
                </a:lnTo>
                <a:lnTo>
                  <a:pt x="6974308" y="1836936"/>
                </a:lnTo>
                <a:lnTo>
                  <a:pt x="6912095" y="1755002"/>
                </a:lnTo>
                <a:lnTo>
                  <a:pt x="6849535" y="1673816"/>
                </a:lnTo>
                <a:lnTo>
                  <a:pt x="6818120" y="1633519"/>
                </a:lnTo>
                <a:lnTo>
                  <a:pt x="6786612" y="1593429"/>
                </a:lnTo>
                <a:lnTo>
                  <a:pt x="6755009" y="1553553"/>
                </a:lnTo>
                <a:lnTo>
                  <a:pt x="6723309" y="1513896"/>
                </a:lnTo>
                <a:lnTo>
                  <a:pt x="6691510" y="1474467"/>
                </a:lnTo>
                <a:lnTo>
                  <a:pt x="6659610" y="1435270"/>
                </a:lnTo>
                <a:lnTo>
                  <a:pt x="6627606" y="1396314"/>
                </a:lnTo>
                <a:lnTo>
                  <a:pt x="6595498" y="1357605"/>
                </a:lnTo>
                <a:lnTo>
                  <a:pt x="6563283" y="1319149"/>
                </a:lnTo>
                <a:lnTo>
                  <a:pt x="6530958" y="1280954"/>
                </a:lnTo>
                <a:lnTo>
                  <a:pt x="6498522" y="1243025"/>
                </a:lnTo>
                <a:lnTo>
                  <a:pt x="6465973" y="1205370"/>
                </a:lnTo>
                <a:lnTo>
                  <a:pt x="6433309" y="1167995"/>
                </a:lnTo>
                <a:lnTo>
                  <a:pt x="6400527" y="1130907"/>
                </a:lnTo>
                <a:lnTo>
                  <a:pt x="6367626" y="1094112"/>
                </a:lnTo>
                <a:lnTo>
                  <a:pt x="6334604" y="1057618"/>
                </a:lnTo>
                <a:lnTo>
                  <a:pt x="6301458" y="1021430"/>
                </a:lnTo>
                <a:lnTo>
                  <a:pt x="6268187" y="985557"/>
                </a:lnTo>
                <a:lnTo>
                  <a:pt x="6234788" y="950003"/>
                </a:lnTo>
                <a:lnTo>
                  <a:pt x="6201260" y="914776"/>
                </a:lnTo>
                <a:lnTo>
                  <a:pt x="6167601" y="879883"/>
                </a:lnTo>
                <a:lnTo>
                  <a:pt x="6133807" y="845331"/>
                </a:lnTo>
                <a:lnTo>
                  <a:pt x="6099879" y="811125"/>
                </a:lnTo>
                <a:lnTo>
                  <a:pt x="6065812" y="777273"/>
                </a:lnTo>
                <a:lnTo>
                  <a:pt x="6031606" y="743781"/>
                </a:lnTo>
                <a:lnTo>
                  <a:pt x="5997258" y="710657"/>
                </a:lnTo>
                <a:lnTo>
                  <a:pt x="5962767" y="677906"/>
                </a:lnTo>
                <a:lnTo>
                  <a:pt x="5928129" y="645535"/>
                </a:lnTo>
                <a:lnTo>
                  <a:pt x="5893344" y="613551"/>
                </a:lnTo>
                <a:lnTo>
                  <a:pt x="5858409" y="581962"/>
                </a:lnTo>
                <a:lnTo>
                  <a:pt x="5823323" y="550772"/>
                </a:lnTo>
                <a:lnTo>
                  <a:pt x="5788082" y="519990"/>
                </a:lnTo>
                <a:lnTo>
                  <a:pt x="5752685" y="489621"/>
                </a:lnTo>
                <a:lnTo>
                  <a:pt x="5717131" y="459673"/>
                </a:lnTo>
                <a:lnTo>
                  <a:pt x="5681416" y="430152"/>
                </a:lnTo>
                <a:lnTo>
                  <a:pt x="5645540" y="401065"/>
                </a:lnTo>
                <a:lnTo>
                  <a:pt x="5609499" y="372418"/>
                </a:lnTo>
                <a:lnTo>
                  <a:pt x="5573292" y="344219"/>
                </a:lnTo>
                <a:lnTo>
                  <a:pt x="5536918" y="316473"/>
                </a:lnTo>
                <a:lnTo>
                  <a:pt x="5500373" y="289188"/>
                </a:lnTo>
                <a:lnTo>
                  <a:pt x="5463655" y="262370"/>
                </a:lnTo>
                <a:lnTo>
                  <a:pt x="5426764" y="236026"/>
                </a:lnTo>
                <a:lnTo>
                  <a:pt x="5389696" y="210162"/>
                </a:lnTo>
                <a:lnTo>
                  <a:pt x="5352451" y="184786"/>
                </a:lnTo>
                <a:lnTo>
                  <a:pt x="5315024" y="159903"/>
                </a:lnTo>
                <a:lnTo>
                  <a:pt x="5277416" y="135521"/>
                </a:lnTo>
                <a:lnTo>
                  <a:pt x="5239623" y="111647"/>
                </a:lnTo>
                <a:lnTo>
                  <a:pt x="5201644" y="88286"/>
                </a:lnTo>
                <a:lnTo>
                  <a:pt x="5163476" y="65446"/>
                </a:lnTo>
                <a:lnTo>
                  <a:pt x="5125117" y="43133"/>
                </a:lnTo>
                <a:lnTo>
                  <a:pt x="5086567" y="21354"/>
                </a:lnTo>
                <a:lnTo>
                  <a:pt x="5047601" y="0"/>
                </a:lnTo>
                <a:close/>
              </a:path>
            </a:pathLst>
          </a:custGeom>
          <a:solidFill>
            <a:srgbClr val="D9D9D9">
              <a:alpha val="5254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0" y="20574"/>
            <a:ext cx="10818241" cy="68374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0" y="0"/>
            <a:ext cx="9575165" cy="6858000"/>
          </a:xfrm>
          <a:custGeom>
            <a:avLst/>
            <a:gdLst/>
            <a:ahLst/>
            <a:cxnLst/>
            <a:rect l="l" t="t" r="r" b="b"/>
            <a:pathLst>
              <a:path w="9575165" h="6858000">
                <a:moveTo>
                  <a:pt x="4897120" y="0"/>
                </a:moveTo>
                <a:lnTo>
                  <a:pt x="0" y="0"/>
                </a:lnTo>
                <a:lnTo>
                  <a:pt x="0" y="6858000"/>
                </a:lnTo>
                <a:lnTo>
                  <a:pt x="9574784" y="6858000"/>
                </a:lnTo>
                <a:lnTo>
                  <a:pt x="9540083" y="6850521"/>
                </a:lnTo>
                <a:lnTo>
                  <a:pt x="9502118" y="6841546"/>
                </a:lnTo>
                <a:lnTo>
                  <a:pt x="9464230" y="6831799"/>
                </a:lnTo>
                <a:lnTo>
                  <a:pt x="9426424" y="6821287"/>
                </a:lnTo>
                <a:lnTo>
                  <a:pt x="9388702" y="6810017"/>
                </a:lnTo>
                <a:lnTo>
                  <a:pt x="9351069" y="6797995"/>
                </a:lnTo>
                <a:lnTo>
                  <a:pt x="9313527" y="6785229"/>
                </a:lnTo>
                <a:lnTo>
                  <a:pt x="9276082" y="6771725"/>
                </a:lnTo>
                <a:lnTo>
                  <a:pt x="9238736" y="6757489"/>
                </a:lnTo>
                <a:lnTo>
                  <a:pt x="9201494" y="6742530"/>
                </a:lnTo>
                <a:lnTo>
                  <a:pt x="9164359" y="6726852"/>
                </a:lnTo>
                <a:lnTo>
                  <a:pt x="9127334" y="6710463"/>
                </a:lnTo>
                <a:lnTo>
                  <a:pt x="9090424" y="6693371"/>
                </a:lnTo>
                <a:lnTo>
                  <a:pt x="9053633" y="6675580"/>
                </a:lnTo>
                <a:lnTo>
                  <a:pt x="9016963" y="6657099"/>
                </a:lnTo>
                <a:lnTo>
                  <a:pt x="8980419" y="6637933"/>
                </a:lnTo>
                <a:lnTo>
                  <a:pt x="8944005" y="6618091"/>
                </a:lnTo>
                <a:lnTo>
                  <a:pt x="8907724" y="6597577"/>
                </a:lnTo>
                <a:lnTo>
                  <a:pt x="8871580" y="6576400"/>
                </a:lnTo>
                <a:lnTo>
                  <a:pt x="8835576" y="6554565"/>
                </a:lnTo>
                <a:lnTo>
                  <a:pt x="8799717" y="6532080"/>
                </a:lnTo>
                <a:lnTo>
                  <a:pt x="8764006" y="6508951"/>
                </a:lnTo>
                <a:lnTo>
                  <a:pt x="8728447" y="6485186"/>
                </a:lnTo>
                <a:lnTo>
                  <a:pt x="8693043" y="6460790"/>
                </a:lnTo>
                <a:lnTo>
                  <a:pt x="8657799" y="6435770"/>
                </a:lnTo>
                <a:lnTo>
                  <a:pt x="8622718" y="6410133"/>
                </a:lnTo>
                <a:lnTo>
                  <a:pt x="8587804" y="6383887"/>
                </a:lnTo>
                <a:lnTo>
                  <a:pt x="8553060" y="6357037"/>
                </a:lnTo>
                <a:lnTo>
                  <a:pt x="8518491" y="6329590"/>
                </a:lnTo>
                <a:lnTo>
                  <a:pt x="8484099" y="6301554"/>
                </a:lnTo>
                <a:lnTo>
                  <a:pt x="8449890" y="6272934"/>
                </a:lnTo>
                <a:lnTo>
                  <a:pt x="8415865" y="6243738"/>
                </a:lnTo>
                <a:lnTo>
                  <a:pt x="8382030" y="6213972"/>
                </a:lnTo>
                <a:lnTo>
                  <a:pt x="8348388" y="6183643"/>
                </a:lnTo>
                <a:lnTo>
                  <a:pt x="8314943" y="6152758"/>
                </a:lnTo>
                <a:lnTo>
                  <a:pt x="8281698" y="6121323"/>
                </a:lnTo>
                <a:lnTo>
                  <a:pt x="8248657" y="6089345"/>
                </a:lnTo>
                <a:lnTo>
                  <a:pt x="8215824" y="6056832"/>
                </a:lnTo>
                <a:lnTo>
                  <a:pt x="8183202" y="6023789"/>
                </a:lnTo>
                <a:lnTo>
                  <a:pt x="8150796" y="5990223"/>
                </a:lnTo>
                <a:lnTo>
                  <a:pt x="8118609" y="5956141"/>
                </a:lnTo>
                <a:lnTo>
                  <a:pt x="8086644" y="5921550"/>
                </a:lnTo>
                <a:lnTo>
                  <a:pt x="8054906" y="5886457"/>
                </a:lnTo>
                <a:lnTo>
                  <a:pt x="8023399" y="5850868"/>
                </a:lnTo>
                <a:lnTo>
                  <a:pt x="7992125" y="5814790"/>
                </a:lnTo>
                <a:lnTo>
                  <a:pt x="7961089" y="5778230"/>
                </a:lnTo>
                <a:lnTo>
                  <a:pt x="7930295" y="5741194"/>
                </a:lnTo>
                <a:lnTo>
                  <a:pt x="7899746" y="5703690"/>
                </a:lnTo>
                <a:lnTo>
                  <a:pt x="7869445" y="5665723"/>
                </a:lnTo>
                <a:lnTo>
                  <a:pt x="7839397" y="5627301"/>
                </a:lnTo>
                <a:lnTo>
                  <a:pt x="7809606" y="5588430"/>
                </a:lnTo>
                <a:lnTo>
                  <a:pt x="7780075" y="5549117"/>
                </a:lnTo>
                <a:lnTo>
                  <a:pt x="7750807" y="5509370"/>
                </a:lnTo>
                <a:lnTo>
                  <a:pt x="7721808" y="5469193"/>
                </a:lnTo>
                <a:lnTo>
                  <a:pt x="7693079" y="5428595"/>
                </a:lnTo>
                <a:lnTo>
                  <a:pt x="7664625" y="5387582"/>
                </a:lnTo>
                <a:lnTo>
                  <a:pt x="7636451" y="5346161"/>
                </a:lnTo>
                <a:lnTo>
                  <a:pt x="7608558" y="5304338"/>
                </a:lnTo>
                <a:lnTo>
                  <a:pt x="7580952" y="5262121"/>
                </a:lnTo>
                <a:lnTo>
                  <a:pt x="7553636" y="5219515"/>
                </a:lnTo>
                <a:lnTo>
                  <a:pt x="7526614" y="5176528"/>
                </a:lnTo>
                <a:lnTo>
                  <a:pt x="7499889" y="5133167"/>
                </a:lnTo>
                <a:lnTo>
                  <a:pt x="7473465" y="5089437"/>
                </a:lnTo>
                <a:lnTo>
                  <a:pt x="7447346" y="5045346"/>
                </a:lnTo>
                <a:lnTo>
                  <a:pt x="7421536" y="5000901"/>
                </a:lnTo>
                <a:lnTo>
                  <a:pt x="7396038" y="4956108"/>
                </a:lnTo>
                <a:lnTo>
                  <a:pt x="7370856" y="4910974"/>
                </a:lnTo>
                <a:lnTo>
                  <a:pt x="7345994" y="4865506"/>
                </a:lnTo>
                <a:lnTo>
                  <a:pt x="7321455" y="4819711"/>
                </a:lnTo>
                <a:lnTo>
                  <a:pt x="7297244" y="4773594"/>
                </a:lnTo>
                <a:lnTo>
                  <a:pt x="7273364" y="4727164"/>
                </a:lnTo>
                <a:lnTo>
                  <a:pt x="7249818" y="4680426"/>
                </a:lnTo>
                <a:lnTo>
                  <a:pt x="7226611" y="4633387"/>
                </a:lnTo>
                <a:lnTo>
                  <a:pt x="7203747" y="4586055"/>
                </a:lnTo>
                <a:lnTo>
                  <a:pt x="7181228" y="4538435"/>
                </a:lnTo>
                <a:lnTo>
                  <a:pt x="7159059" y="4490536"/>
                </a:lnTo>
                <a:lnTo>
                  <a:pt x="7137243" y="4442362"/>
                </a:lnTo>
                <a:lnTo>
                  <a:pt x="7115784" y="4393921"/>
                </a:lnTo>
                <a:lnTo>
                  <a:pt x="7094686" y="4345220"/>
                </a:lnTo>
                <a:lnTo>
                  <a:pt x="7073953" y="4296266"/>
                </a:lnTo>
                <a:lnTo>
                  <a:pt x="7053588" y="4247065"/>
                </a:lnTo>
                <a:lnTo>
                  <a:pt x="7033595" y="4197623"/>
                </a:lnTo>
                <a:lnTo>
                  <a:pt x="7013978" y="4147949"/>
                </a:lnTo>
                <a:lnTo>
                  <a:pt x="6994741" y="4098047"/>
                </a:lnTo>
                <a:lnTo>
                  <a:pt x="6975887" y="4047926"/>
                </a:lnTo>
                <a:lnTo>
                  <a:pt x="6957420" y="3997592"/>
                </a:lnTo>
                <a:lnTo>
                  <a:pt x="6939343" y="3947051"/>
                </a:lnTo>
                <a:lnTo>
                  <a:pt x="6921661" y="3896311"/>
                </a:lnTo>
                <a:lnTo>
                  <a:pt x="6904377" y="3845377"/>
                </a:lnTo>
                <a:lnTo>
                  <a:pt x="6887495" y="3794258"/>
                </a:lnTo>
                <a:lnTo>
                  <a:pt x="6871019" y="3742959"/>
                </a:lnTo>
                <a:lnTo>
                  <a:pt x="6854952" y="3691487"/>
                </a:lnTo>
                <a:lnTo>
                  <a:pt x="6839298" y="3639849"/>
                </a:lnTo>
                <a:lnTo>
                  <a:pt x="6824061" y="3588051"/>
                </a:lnTo>
                <a:lnTo>
                  <a:pt x="6809245" y="3536101"/>
                </a:lnTo>
                <a:lnTo>
                  <a:pt x="6794853" y="3484006"/>
                </a:lnTo>
                <a:lnTo>
                  <a:pt x="6780889" y="3431771"/>
                </a:lnTo>
                <a:lnTo>
                  <a:pt x="6767357" y="3379403"/>
                </a:lnTo>
                <a:lnTo>
                  <a:pt x="6754260" y="3326910"/>
                </a:lnTo>
                <a:lnTo>
                  <a:pt x="6741602" y="3274298"/>
                </a:lnTo>
                <a:lnTo>
                  <a:pt x="6729388" y="3221574"/>
                </a:lnTo>
                <a:lnTo>
                  <a:pt x="6717620" y="3168744"/>
                </a:lnTo>
                <a:lnTo>
                  <a:pt x="6706303" y="3115816"/>
                </a:lnTo>
                <a:lnTo>
                  <a:pt x="6695440" y="3062795"/>
                </a:lnTo>
                <a:lnTo>
                  <a:pt x="6679738" y="2984690"/>
                </a:lnTo>
                <a:lnTo>
                  <a:pt x="6663528" y="2907751"/>
                </a:lnTo>
                <a:lnTo>
                  <a:pt x="6646822" y="2831972"/>
                </a:lnTo>
                <a:lnTo>
                  <a:pt x="6629630" y="2757344"/>
                </a:lnTo>
                <a:lnTo>
                  <a:pt x="6611965" y="2683863"/>
                </a:lnTo>
                <a:lnTo>
                  <a:pt x="6593838" y="2611522"/>
                </a:lnTo>
                <a:lnTo>
                  <a:pt x="6575261" y="2540314"/>
                </a:lnTo>
                <a:lnTo>
                  <a:pt x="6556247" y="2470232"/>
                </a:lnTo>
                <a:lnTo>
                  <a:pt x="6536805" y="2401271"/>
                </a:lnTo>
                <a:lnTo>
                  <a:pt x="6516949" y="2333423"/>
                </a:lnTo>
                <a:lnTo>
                  <a:pt x="6496689" y="2266682"/>
                </a:lnTo>
                <a:lnTo>
                  <a:pt x="6476038" y="2201042"/>
                </a:lnTo>
                <a:lnTo>
                  <a:pt x="6455007" y="2136496"/>
                </a:lnTo>
                <a:lnTo>
                  <a:pt x="6433609" y="2073037"/>
                </a:lnTo>
                <a:lnTo>
                  <a:pt x="6411854" y="2010659"/>
                </a:lnTo>
                <a:lnTo>
                  <a:pt x="6389754" y="1949356"/>
                </a:lnTo>
                <a:lnTo>
                  <a:pt x="6367321" y="1889121"/>
                </a:lnTo>
                <a:lnTo>
                  <a:pt x="6344567" y="1829948"/>
                </a:lnTo>
                <a:lnTo>
                  <a:pt x="6321504" y="1771829"/>
                </a:lnTo>
                <a:lnTo>
                  <a:pt x="6298143" y="1714759"/>
                </a:lnTo>
                <a:lnTo>
                  <a:pt x="6274496" y="1658731"/>
                </a:lnTo>
                <a:lnTo>
                  <a:pt x="6250574" y="1603738"/>
                </a:lnTo>
                <a:lnTo>
                  <a:pt x="6226390" y="1549774"/>
                </a:lnTo>
                <a:lnTo>
                  <a:pt x="6201954" y="1496833"/>
                </a:lnTo>
                <a:lnTo>
                  <a:pt x="6177280" y="1444908"/>
                </a:lnTo>
                <a:lnTo>
                  <a:pt x="6152377" y="1393992"/>
                </a:lnTo>
                <a:lnTo>
                  <a:pt x="6127259" y="1344078"/>
                </a:lnTo>
                <a:lnTo>
                  <a:pt x="6101937" y="1295162"/>
                </a:lnTo>
                <a:lnTo>
                  <a:pt x="6076422" y="1247235"/>
                </a:lnTo>
                <a:lnTo>
                  <a:pt x="6050727" y="1200291"/>
                </a:lnTo>
                <a:lnTo>
                  <a:pt x="6024862" y="1154325"/>
                </a:lnTo>
                <a:lnTo>
                  <a:pt x="5998840" y="1109328"/>
                </a:lnTo>
                <a:lnTo>
                  <a:pt x="5972672" y="1065296"/>
                </a:lnTo>
                <a:lnTo>
                  <a:pt x="5946371" y="1022220"/>
                </a:lnTo>
                <a:lnTo>
                  <a:pt x="5919947" y="980096"/>
                </a:lnTo>
                <a:lnTo>
                  <a:pt x="5893413" y="938915"/>
                </a:lnTo>
                <a:lnTo>
                  <a:pt x="5866779" y="898673"/>
                </a:lnTo>
                <a:lnTo>
                  <a:pt x="5840059" y="859362"/>
                </a:lnTo>
                <a:lnTo>
                  <a:pt x="5813263" y="820975"/>
                </a:lnTo>
                <a:lnTo>
                  <a:pt x="5786404" y="783507"/>
                </a:lnTo>
                <a:lnTo>
                  <a:pt x="5759492" y="746951"/>
                </a:lnTo>
                <a:lnTo>
                  <a:pt x="5732541" y="711299"/>
                </a:lnTo>
                <a:lnTo>
                  <a:pt x="5705560" y="676547"/>
                </a:lnTo>
                <a:lnTo>
                  <a:pt x="5678563" y="642686"/>
                </a:lnTo>
                <a:lnTo>
                  <a:pt x="5651560" y="609711"/>
                </a:lnTo>
                <a:lnTo>
                  <a:pt x="5624564" y="577616"/>
                </a:lnTo>
                <a:lnTo>
                  <a:pt x="5597587" y="546393"/>
                </a:lnTo>
                <a:lnTo>
                  <a:pt x="5570639" y="516036"/>
                </a:lnTo>
                <a:lnTo>
                  <a:pt x="5543732" y="486538"/>
                </a:lnTo>
                <a:lnTo>
                  <a:pt x="5516880" y="457894"/>
                </a:lnTo>
                <a:lnTo>
                  <a:pt x="5490092" y="430097"/>
                </a:lnTo>
                <a:lnTo>
                  <a:pt x="5436758" y="377015"/>
                </a:lnTo>
                <a:lnTo>
                  <a:pt x="5383824" y="327242"/>
                </a:lnTo>
                <a:lnTo>
                  <a:pt x="5331385" y="280725"/>
                </a:lnTo>
                <a:lnTo>
                  <a:pt x="5279533" y="237412"/>
                </a:lnTo>
                <a:lnTo>
                  <a:pt x="5228363" y="197251"/>
                </a:lnTo>
                <a:lnTo>
                  <a:pt x="5177969" y="160189"/>
                </a:lnTo>
                <a:lnTo>
                  <a:pt x="5128442" y="126175"/>
                </a:lnTo>
                <a:lnTo>
                  <a:pt x="5079879" y="95157"/>
                </a:lnTo>
                <a:lnTo>
                  <a:pt x="5032371" y="67083"/>
                </a:lnTo>
                <a:lnTo>
                  <a:pt x="4986013" y="41900"/>
                </a:lnTo>
                <a:lnTo>
                  <a:pt x="4940898" y="19556"/>
                </a:lnTo>
                <a:lnTo>
                  <a:pt x="4918836" y="9433"/>
                </a:lnTo>
                <a:lnTo>
                  <a:pt x="4897120" y="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0" y="0"/>
            <a:ext cx="8598814" cy="6858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0747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5A77CFC-65B2-A846-8F19-ADB91A647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B6A1E7-4BAC-444E-8195-13A6CABE7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0F99D1-FDC7-7A48-B0BA-8A6EEBB4B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9C382-543E-EE42-AC14-7F58924E3D3E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C5381A-6010-C448-99D2-1EF06951C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ED0EDE-0E54-5D47-BEB3-B13379F81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3F452-3C92-1C4D-9EDF-5201CB85BC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039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140" y="2574346"/>
            <a:ext cx="7530696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6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检索系统</a:t>
            </a:r>
            <a:br>
              <a:rPr lang="en-US" altLang="zh-CN" sz="6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sz="6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设计与开发</a:t>
            </a:r>
            <a:endParaRPr sz="6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7931" y="177545"/>
            <a:ext cx="2109977" cy="5295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实验要求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77357F8-2736-8048-8166-CA35006CFB20}"/>
              </a:ext>
            </a:extLst>
          </p:cNvPr>
          <p:cNvSpPr txBox="1">
            <a:spLocks/>
          </p:cNvSpPr>
          <p:nvPr/>
        </p:nvSpPr>
        <p:spPr>
          <a:xfrm>
            <a:off x="885824" y="1021144"/>
            <a:ext cx="10807412" cy="53975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 algn="just">
              <a:lnSpc>
                <a:spcPct val="125000"/>
              </a:lnSpc>
              <a:buNone/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检索系统设计与开发（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2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人一组，开题汇报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10%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，结项汇报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5%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，系统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+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实验报告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30%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）</a:t>
            </a:r>
          </a:p>
          <a:p>
            <a:pPr marL="514350" lvl="1" indent="-514350" algn="just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综合体现信息的存储与组织、信息的检索和信息的展示；</a:t>
            </a:r>
          </a:p>
          <a:p>
            <a:pPr marL="514350" lvl="1" indent="-514350" algn="just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综合体现</a:t>
            </a:r>
            <a:r>
              <a:rPr lang="es-419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N-gram</a:t>
            </a:r>
            <a:r>
              <a:rPr lang="zh-CN" altLang="es-419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分词、关键词抽取、分类、聚类、测评等实验任务；</a:t>
            </a:r>
          </a:p>
          <a:p>
            <a:pPr marL="514350" lvl="1" indent="-514350" algn="just">
              <a:lnSpc>
                <a:spcPct val="125000"/>
              </a:lnSpc>
              <a:buFont typeface="+mj-lt"/>
              <a:buAutoNum type="arabicPeriod"/>
              <a:tabLst>
                <a:tab pos="5010150" algn="l"/>
              </a:tabLst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针对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某一类型资源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的检索系统的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设计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；</a:t>
            </a:r>
          </a:p>
          <a:p>
            <a:pPr marL="514350" lvl="1" indent="-514350" algn="just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检索系统的</a:t>
            </a:r>
            <a:r>
              <a:rPr lang="zh-CN" altLang="en-US" sz="2800" b="1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实现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（区分个人实现部分与</a:t>
            </a:r>
            <a:r>
              <a:rPr lang="es-419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AI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参与实现的部分）；</a:t>
            </a:r>
          </a:p>
          <a:p>
            <a:pPr marL="514350" lvl="1" indent="-514350" algn="just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检索系统的评测与总结；</a:t>
            </a:r>
          </a:p>
          <a:p>
            <a:pPr marL="514350" lvl="1" indent="-514350" algn="just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口头报告、系统展示、实验报告的撰写。</a:t>
            </a:r>
          </a:p>
          <a:p>
            <a:pPr marL="0" lvl="1" indent="0" algn="just">
              <a:lnSpc>
                <a:spcPct val="125000"/>
              </a:lnSpc>
              <a:buNone/>
            </a:pPr>
            <a:endParaRPr lang="zh-CN" altLang="en-US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325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实验要求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77357F8-2736-8048-8166-CA35006CFB20}"/>
              </a:ext>
            </a:extLst>
          </p:cNvPr>
          <p:cNvSpPr txBox="1">
            <a:spLocks/>
          </p:cNvSpPr>
          <p:nvPr/>
        </p:nvSpPr>
        <p:spPr>
          <a:xfrm>
            <a:off x="885824" y="1021144"/>
            <a:ext cx="10807412" cy="53975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 algn="just">
              <a:lnSpc>
                <a:spcPct val="125000"/>
              </a:lnSpc>
              <a:buNone/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开题汇报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514350" lvl="1" indent="-514350" algn="just">
              <a:lnSpc>
                <a:spcPct val="125000"/>
              </a:lnSpc>
              <a:buAutoNum type="arabicPeriod"/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准备并提交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5-8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分钟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的检索系统设计提案，包括目标（用户目标与系统目标）、语料特征与规模、系统初步设计、分工与计划。</a:t>
            </a:r>
            <a:endParaRPr lang="en-US" altLang="zh-CN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514350" lvl="1" indent="-514350" algn="just">
              <a:lnSpc>
                <a:spcPct val="125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于第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14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周（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6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月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2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日）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课前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提交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PPT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，于课题展示，重点汇报：</a:t>
            </a:r>
            <a:endParaRPr lang="en-US" altLang="zh-CN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396875" lvl="2" indent="0" algn="just">
              <a:lnSpc>
                <a:spcPct val="125000"/>
              </a:lnSpc>
              <a:buNone/>
            </a:pPr>
            <a:r>
              <a:rPr lang="zh-CN" altLang="en-US" sz="25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（</a:t>
            </a:r>
            <a:r>
              <a:rPr lang="en-US" altLang="zh-CN" sz="25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1</a:t>
            </a:r>
            <a:r>
              <a:rPr lang="zh-CN" altLang="en-US" sz="25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）语料特征与规范；</a:t>
            </a:r>
            <a:endParaRPr lang="en-US" altLang="zh-CN" sz="25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396875" lvl="2" indent="0" algn="just">
              <a:lnSpc>
                <a:spcPct val="125000"/>
              </a:lnSpc>
              <a:buNone/>
            </a:pPr>
            <a:r>
              <a:rPr lang="zh-CN" altLang="en-US" sz="25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（</a:t>
            </a:r>
            <a:r>
              <a:rPr lang="en-US" altLang="zh-CN" sz="25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2</a:t>
            </a:r>
            <a:r>
              <a:rPr lang="zh-CN" altLang="en-US" sz="25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）系统设计。</a:t>
            </a:r>
          </a:p>
          <a:p>
            <a:pPr marL="0" lvl="1" indent="0" algn="just">
              <a:lnSpc>
                <a:spcPct val="125000"/>
              </a:lnSpc>
              <a:buNone/>
            </a:pPr>
            <a:endParaRPr lang="zh-CN" altLang="en-US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38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实验要求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77357F8-2736-8048-8166-CA35006CFB20}"/>
              </a:ext>
            </a:extLst>
          </p:cNvPr>
          <p:cNvSpPr txBox="1">
            <a:spLocks/>
          </p:cNvSpPr>
          <p:nvPr/>
        </p:nvSpPr>
        <p:spPr>
          <a:xfrm>
            <a:off x="885824" y="1021144"/>
            <a:ext cx="10807412" cy="53975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 algn="just">
              <a:lnSpc>
                <a:spcPct val="125000"/>
              </a:lnSpc>
              <a:buNone/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结项汇报与报告提交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0" lvl="1" indent="0" algn="just">
              <a:lnSpc>
                <a:spcPct val="125000"/>
              </a:lnSpc>
              <a:buNone/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于第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16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周（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6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月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16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日）进行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5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分钟结项汇报示；</a:t>
            </a:r>
            <a:endParaRPr lang="en-US" altLang="zh-CN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0" lvl="1" indent="0" algn="just">
              <a:lnSpc>
                <a:spcPct val="125000"/>
              </a:lnSpc>
              <a:buNone/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无需准备汇报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PPT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，以展示系统为主。</a:t>
            </a:r>
            <a:endParaRPr lang="en-US" altLang="zh-CN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0" lvl="1" indent="0" algn="just">
              <a:lnSpc>
                <a:spcPct val="125000"/>
              </a:lnSpc>
              <a:buNone/>
            </a:pPr>
            <a:endParaRPr lang="en-US" altLang="zh-CN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0" lvl="1" indent="0" algn="just">
              <a:lnSpc>
                <a:spcPct val="125000"/>
              </a:lnSpc>
              <a:buNone/>
            </a:pP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实验报告提交</a:t>
            </a:r>
            <a:endParaRPr lang="en-US" altLang="zh-CN" sz="28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0" lvl="1" indent="0" algn="just">
              <a:lnSpc>
                <a:spcPct val="125000"/>
              </a:lnSpc>
              <a:buNone/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每组提交一份实验报告。</a:t>
            </a:r>
            <a:endParaRPr lang="en-US" altLang="zh-CN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0" lvl="1" indent="0" algn="just">
              <a:lnSpc>
                <a:spcPct val="125000"/>
              </a:lnSpc>
              <a:buNone/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实验报告不超过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30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页、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2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万字，需完整体现实验过程，格式规范。</a:t>
            </a:r>
            <a:endParaRPr lang="en-US" altLang="zh-CN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0" lvl="1" indent="0" algn="just">
              <a:lnSpc>
                <a:spcPct val="125000"/>
              </a:lnSpc>
              <a:buNone/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提交时间待通知（预计第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17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周）。</a:t>
            </a:r>
            <a:endParaRPr lang="en-US" altLang="zh-CN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0" lvl="1" indent="0" algn="just">
              <a:lnSpc>
                <a:spcPct val="125000"/>
              </a:lnSpc>
              <a:buNone/>
            </a:pPr>
            <a:endParaRPr lang="zh-CN" altLang="en-US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86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77357F8-2736-8048-8166-CA35006CFB20}"/>
              </a:ext>
            </a:extLst>
          </p:cNvPr>
          <p:cNvSpPr txBox="1">
            <a:spLocks/>
          </p:cNvSpPr>
          <p:nvPr/>
        </p:nvSpPr>
        <p:spPr>
          <a:xfrm>
            <a:off x="885824" y="1021145"/>
            <a:ext cx="10807412" cy="96437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 algn="just">
              <a:lnSpc>
                <a:spcPct val="125000"/>
              </a:lnSpc>
              <a:buNone/>
            </a:pPr>
            <a:r>
              <a:rPr lang="es-419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AJAX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之父</a:t>
            </a:r>
            <a:r>
              <a:rPr lang="es-419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Jesse James Garrett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在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2007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年出版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《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用户体验要素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》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，提出了从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5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个要素自下而上的建设用户体验。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03CD10-7CA6-944C-820C-1F99A2037040}"/>
              </a:ext>
            </a:extLst>
          </p:cNvPr>
          <p:cNvSpPr txBox="1"/>
          <p:nvPr/>
        </p:nvSpPr>
        <p:spPr>
          <a:xfrm>
            <a:off x="885824" y="2327151"/>
            <a:ext cx="5473412" cy="3249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indent="-469900" algn="just">
              <a:lnSpc>
                <a:spcPct val="125000"/>
              </a:lnSpc>
            </a:pP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这本书最初面向 </a:t>
            </a:r>
            <a:r>
              <a:rPr lang="es-419" altLang="zh-CN" sz="2800" dirty="0"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Web </a:t>
            </a: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端设计，后逐渐延展至移动互联网时代的 </a:t>
            </a:r>
            <a:r>
              <a:rPr lang="es-419" altLang="zh-CN" sz="2800" dirty="0"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App </a:t>
            </a: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设计。由于其具有较强的普适性与实践指导价值，书中方法被广泛视为用户体验设计中项目创建与研究的经典方法论。</a:t>
            </a:r>
          </a:p>
        </p:txBody>
      </p:sp>
      <p:pic>
        <p:nvPicPr>
          <p:cNvPr id="9" name="Picture 4" descr="用户体验要素:以用户为中心的产品设计(原书第2版)">
            <a:extLst>
              <a:ext uri="{FF2B5EF4-FFF2-40B4-BE49-F238E27FC236}">
                <a16:creationId xmlns:a16="http://schemas.microsoft.com/office/drawing/2014/main" id="{94311AB4-F7D0-FB48-96C0-2731F2D8F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565" y="2356163"/>
            <a:ext cx="2201376" cy="3193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Jesse James Garrett: about">
            <a:extLst>
              <a:ext uri="{FF2B5EF4-FFF2-40B4-BE49-F238E27FC236}">
                <a16:creationId xmlns:a16="http://schemas.microsoft.com/office/drawing/2014/main" id="{9575009D-3A34-524E-B5DC-09C7DD234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822" y="2327151"/>
            <a:ext cx="2144286" cy="322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4332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77357F8-2736-8048-8166-CA35006CFB20}"/>
              </a:ext>
            </a:extLst>
          </p:cNvPr>
          <p:cNvSpPr txBox="1">
            <a:spLocks/>
          </p:cNvSpPr>
          <p:nvPr/>
        </p:nvSpPr>
        <p:spPr>
          <a:xfrm>
            <a:off x="885824" y="1021145"/>
            <a:ext cx="10807412" cy="96437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 algn="just">
              <a:lnSpc>
                <a:spcPct val="125000"/>
              </a:lnSpc>
              <a:buNone/>
            </a:pP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在整个产品设计中，用户体验由下到上分为</a:t>
            </a:r>
            <a:r>
              <a:rPr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5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个层面，包括战略层、范围层、结构层、框架层和表现层。</a:t>
            </a:r>
          </a:p>
          <a:p>
            <a:pPr marL="0" lvl="1" indent="0" algn="just">
              <a:lnSpc>
                <a:spcPct val="125000"/>
              </a:lnSpc>
              <a:buNone/>
            </a:pPr>
            <a:endParaRPr lang="zh-CN" altLang="en-US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03CD10-7CA6-944C-820C-1F99A2037040}"/>
              </a:ext>
            </a:extLst>
          </p:cNvPr>
          <p:cNvSpPr txBox="1"/>
          <p:nvPr/>
        </p:nvSpPr>
        <p:spPr>
          <a:xfrm>
            <a:off x="885824" y="2327151"/>
            <a:ext cx="4946941" cy="2199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rtl="1">
              <a:lnSpc>
                <a:spcPct val="125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每个层面的选择，都会受到其上一层面的决策的约束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，其核心在于</a:t>
            </a:r>
            <a:r>
              <a:rPr lang="zh-CN" altLang="en-US" sz="2800" b="1" dirty="0">
                <a:solidFill>
                  <a:srgbClr val="0070C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产品底层逻辑根本决定上层形态构成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。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93CCEF6F-5F6F-2042-8958-929958C34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169" y="2149582"/>
            <a:ext cx="5310317" cy="4480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8344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C769904A-BC56-9C4C-9B38-481366F18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169" y="2149582"/>
            <a:ext cx="5310317" cy="4480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03CD10-7CA6-944C-820C-1F99A2037040}"/>
              </a:ext>
            </a:extLst>
          </p:cNvPr>
          <p:cNvSpPr txBox="1"/>
          <p:nvPr/>
        </p:nvSpPr>
        <p:spPr>
          <a:xfrm>
            <a:off x="885823" y="1051750"/>
            <a:ext cx="11019663" cy="257814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469900" indent="-469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/>
            </a:lvl1pPr>
            <a:lvl2pPr marL="0" lvl="1" indent="0" algn="just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defRPr>
            </a:lvl2pPr>
            <a:lvl3pPr marL="1304925" indent="-3956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/>
            </a:lvl3pPr>
            <a:lvl4pPr marL="1694180" indent="-3873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/>
            </a:lvl4pPr>
            <a:lvl5pPr marL="20942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9pPr>
          </a:lstStyle>
          <a:p>
            <a:pPr lvl="1"/>
            <a:r>
              <a:rPr lang="zh-CN" altLang="en-US" b="1" dirty="0"/>
              <a:t>战略层</a:t>
            </a:r>
            <a:r>
              <a:rPr lang="zh-CN" altLang="en-US" dirty="0"/>
              <a:t>决定了产品能够为哪些用户解决什么样的问题。因此在产品设计前要明确</a:t>
            </a:r>
            <a:r>
              <a:rPr lang="zh-CN" altLang="en-US" dirty="0">
                <a:solidFill>
                  <a:srgbClr val="C00000"/>
                </a:solidFill>
              </a:rPr>
              <a:t>产品目标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00000"/>
                </a:solidFill>
              </a:rPr>
              <a:t>用户需求</a:t>
            </a:r>
            <a:r>
              <a:rPr lang="zh-CN" altLang="en-US" dirty="0"/>
              <a:t>这两个核心问题：</a:t>
            </a:r>
            <a:endParaRPr lang="en-US" altLang="zh-CN" dirty="0"/>
          </a:p>
          <a:p>
            <a:pPr marL="457200" lvl="1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我们通过这个产品要获得什么？</a:t>
            </a:r>
            <a:endParaRPr lang="en-US" altLang="zh-CN" b="1" dirty="0">
              <a:solidFill>
                <a:srgbClr val="00206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lvl="1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用户通过我们的产品能获得什么？</a:t>
            </a:r>
            <a:endParaRPr lang="en-US" altLang="zh-CN" b="1" dirty="0">
              <a:solidFill>
                <a:srgbClr val="00206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0D61-F65F-9D4C-B2D0-3BE68F237D6F}"/>
              </a:ext>
            </a:extLst>
          </p:cNvPr>
          <p:cNvSpPr txBox="1"/>
          <p:nvPr/>
        </p:nvSpPr>
        <p:spPr>
          <a:xfrm>
            <a:off x="926042" y="4457451"/>
            <a:ext cx="5241396" cy="21727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12700" indent="-469900" algn="just">
              <a:lnSpc>
                <a:spcPct val="125000"/>
              </a:lnSpc>
              <a:defRPr sz="2800"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defRPr>
            </a:lvl1pPr>
          </a:lstStyle>
          <a:p>
            <a:pPr marL="12700" lvl="1" indent="-469900" algn="just">
              <a:lnSpc>
                <a:spcPct val="125000"/>
              </a:lnSpc>
            </a:pP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产品经理在进行前期产品规划时，通过产品分析、产品定位、商业模式分析、用户需求分析等一系列工作，解决战略层的问题。</a:t>
            </a:r>
          </a:p>
        </p:txBody>
      </p: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107AA509-6B15-B54A-B2A9-758BA2F015A5}"/>
              </a:ext>
            </a:extLst>
          </p:cNvPr>
          <p:cNvSpPr/>
          <p:nvPr/>
        </p:nvSpPr>
        <p:spPr>
          <a:xfrm>
            <a:off x="716106" y="2673926"/>
            <a:ext cx="761046" cy="1787237"/>
          </a:xfrm>
          <a:custGeom>
            <a:avLst/>
            <a:gdLst>
              <a:gd name="connsiteX0" fmla="*/ 738621 w 761046"/>
              <a:gd name="connsiteY0" fmla="*/ 30310 h 1859110"/>
              <a:gd name="connsiteX1" fmla="*/ 669349 w 761046"/>
              <a:gd name="connsiteY1" fmla="*/ 58019 h 1859110"/>
              <a:gd name="connsiteX2" fmla="*/ 4330 w 761046"/>
              <a:gd name="connsiteY2" fmla="*/ 556782 h 1859110"/>
              <a:gd name="connsiteX3" fmla="*/ 433821 w 761046"/>
              <a:gd name="connsiteY3" fmla="*/ 1859110 h 185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1046" h="1859110">
                <a:moveTo>
                  <a:pt x="738621" y="30310"/>
                </a:moveTo>
                <a:cubicBezTo>
                  <a:pt x="765176" y="292"/>
                  <a:pt x="791731" y="-29726"/>
                  <a:pt x="669349" y="58019"/>
                </a:cubicBezTo>
                <a:cubicBezTo>
                  <a:pt x="546967" y="145764"/>
                  <a:pt x="43585" y="256600"/>
                  <a:pt x="4330" y="556782"/>
                </a:cubicBezTo>
                <a:cubicBezTo>
                  <a:pt x="-34925" y="856964"/>
                  <a:pt x="199448" y="1358037"/>
                  <a:pt x="433821" y="1859110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9924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C769904A-BC56-9C4C-9B38-481366F18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169" y="2149582"/>
            <a:ext cx="5310317" cy="4480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03CD10-7CA6-944C-820C-1F99A2037040}"/>
              </a:ext>
            </a:extLst>
          </p:cNvPr>
          <p:cNvSpPr txBox="1"/>
          <p:nvPr/>
        </p:nvSpPr>
        <p:spPr>
          <a:xfrm>
            <a:off x="885823" y="1051750"/>
            <a:ext cx="11019663" cy="4681476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469900" indent="-469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/>
            </a:lvl1pPr>
            <a:lvl2pPr marL="0" lvl="1" indent="0" algn="just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defRPr>
            </a:lvl2pPr>
            <a:lvl3pPr marL="1304925" indent="-3956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/>
            </a:lvl3pPr>
            <a:lvl4pPr marL="1694180" indent="-3873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/>
            </a:lvl4pPr>
            <a:lvl5pPr marL="20942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9pPr>
          </a:lstStyle>
          <a:p>
            <a:pPr lvl="1"/>
            <a:r>
              <a:rPr lang="zh-CN" altLang="en-US" b="1" dirty="0"/>
              <a:t>战略层</a:t>
            </a:r>
            <a:r>
              <a:rPr lang="zh-CN" altLang="en-US" dirty="0"/>
              <a:t>决定了产品能够为哪些用户解决什么样的问题。因此在产品设计前要明确</a:t>
            </a:r>
            <a:r>
              <a:rPr lang="zh-CN" altLang="en-US" dirty="0">
                <a:solidFill>
                  <a:srgbClr val="C00000"/>
                </a:solidFill>
              </a:rPr>
              <a:t>产品目标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00000"/>
                </a:solidFill>
              </a:rPr>
              <a:t>用户需求</a:t>
            </a:r>
            <a:r>
              <a:rPr lang="zh-CN" altLang="en-US" dirty="0"/>
              <a:t>这两个核心问题：</a:t>
            </a:r>
            <a:endParaRPr lang="en-US" altLang="zh-CN" dirty="0"/>
          </a:p>
          <a:p>
            <a:pPr marL="457200" lvl="1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我们通过这个产品要获得什么？</a:t>
            </a:r>
            <a:endParaRPr lang="en-US" altLang="zh-CN" b="1" dirty="0">
              <a:solidFill>
                <a:srgbClr val="00206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lvl="1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用户通过我们的产品能获得什么？</a:t>
            </a:r>
            <a:endParaRPr lang="en-US" altLang="zh-CN" b="1" dirty="0">
              <a:solidFill>
                <a:srgbClr val="00206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0D61-F65F-9D4C-B2D0-3BE68F237D6F}"/>
              </a:ext>
            </a:extLst>
          </p:cNvPr>
          <p:cNvSpPr txBox="1"/>
          <p:nvPr/>
        </p:nvSpPr>
        <p:spPr>
          <a:xfrm>
            <a:off x="926042" y="4141555"/>
            <a:ext cx="5241396" cy="21727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12700" indent="-469900" algn="just">
              <a:lnSpc>
                <a:spcPct val="125000"/>
              </a:lnSpc>
              <a:defRPr sz="2800"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defRPr>
            </a:lvl1pPr>
          </a:lstStyle>
          <a:p>
            <a:pPr marL="12700" lvl="1" indent="-469900" algn="just">
              <a:lnSpc>
                <a:spcPct val="125000"/>
              </a:lnSpc>
            </a:pP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常用方法：</a:t>
            </a:r>
            <a:endParaRPr lang="en-US" altLang="zh-CN" sz="28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12700" lvl="1" indent="-469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用户画像</a:t>
            </a:r>
            <a:r>
              <a:rPr lang="es-419" altLang="zh-CN" sz="2800" dirty="0"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Persona</a:t>
            </a:r>
          </a:p>
          <a:p>
            <a:pPr marL="12700" lvl="1" indent="-469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s-419" sz="2800" dirty="0"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用户</a:t>
            </a: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体验地图</a:t>
            </a:r>
            <a:endParaRPr lang="en-US" altLang="zh-CN" sz="28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12700" lvl="1" indent="-469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同理心地区</a:t>
            </a:r>
          </a:p>
        </p:txBody>
      </p:sp>
      <p:sp>
        <p:nvSpPr>
          <p:cNvPr id="6" name="弧 5">
            <a:extLst>
              <a:ext uri="{FF2B5EF4-FFF2-40B4-BE49-F238E27FC236}">
                <a16:creationId xmlns:a16="http://schemas.microsoft.com/office/drawing/2014/main" id="{AA9FB4E8-3D30-3F44-8054-DFD9F4C9745E}"/>
              </a:ext>
            </a:extLst>
          </p:cNvPr>
          <p:cNvSpPr/>
          <p:nvPr/>
        </p:nvSpPr>
        <p:spPr>
          <a:xfrm rot="4255316">
            <a:off x="2846240" y="3003479"/>
            <a:ext cx="2382982" cy="1655618"/>
          </a:xfrm>
          <a:prstGeom prst="arc">
            <a:avLst/>
          </a:pr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673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622EAE0-F48F-2C4C-AA83-59D4C31278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564" y="882954"/>
            <a:ext cx="6775629" cy="3910997"/>
          </a:xfrm>
          <a:prstGeom prst="rect">
            <a:avLst/>
          </a:prstGeom>
        </p:spPr>
      </p:pic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98905993-7A44-AF4B-A23D-620776FD1962}"/>
              </a:ext>
            </a:extLst>
          </p:cNvPr>
          <p:cNvSpPr txBox="1">
            <a:spLocks/>
          </p:cNvSpPr>
          <p:nvPr/>
        </p:nvSpPr>
        <p:spPr>
          <a:xfrm>
            <a:off x="640689" y="884560"/>
            <a:ext cx="4887275" cy="39806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lvl="1" indent="-469900" algn="just">
              <a:lnSpc>
                <a:spcPct val="125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Persona</a:t>
            </a:r>
            <a:r>
              <a:rPr lang="zh-CN" altLang="en-US" sz="2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不是学术研究的方法！</a:t>
            </a:r>
          </a:p>
          <a:p>
            <a:pPr marL="469900" lvl="1" indent="-469900" algn="just">
              <a:lnSpc>
                <a:spcPct val="125000"/>
              </a:lnSpc>
            </a:pPr>
            <a:r>
              <a:rPr lang="zh-CN" altLang="en-US" sz="2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是一种用户建模的方法。</a:t>
            </a:r>
          </a:p>
          <a:p>
            <a:pPr marL="469900" lvl="1" indent="-469900" algn="just">
              <a:lnSpc>
                <a:spcPct val="125000"/>
              </a:lnSpc>
            </a:pPr>
            <a:r>
              <a:rPr lang="zh-CN" altLang="en-US" sz="2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用虚构出的一个用户来代表一个用户群；</a:t>
            </a:r>
            <a:r>
              <a:rPr lang="en-US" altLang="zh-CN" sz="2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persona</a:t>
            </a:r>
            <a:r>
              <a:rPr lang="zh-CN" altLang="en-US" sz="2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可以比任何一个真实的个体都更有代表性</a:t>
            </a:r>
          </a:p>
          <a:p>
            <a:pPr marL="469900" lvl="1" indent="-469900" algn="just">
              <a:lnSpc>
                <a:spcPct val="125000"/>
              </a:lnSpc>
            </a:pPr>
            <a:r>
              <a:rPr lang="zh-CN" altLang="en-US" sz="2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一个产品通常会设计</a:t>
            </a:r>
            <a:r>
              <a:rPr lang="en-US" altLang="zh-CN" sz="2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3</a:t>
            </a:r>
            <a:r>
              <a:rPr lang="zh-CN" altLang="en-US" sz="2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～</a:t>
            </a:r>
            <a:r>
              <a:rPr lang="en-US" altLang="zh-CN" sz="2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6</a:t>
            </a:r>
            <a:r>
              <a:rPr lang="zh-CN" altLang="en-US" sz="2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个用户角色代表所有的用户群体。</a:t>
            </a:r>
            <a:endParaRPr lang="en-US" altLang="zh-CN" sz="24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469900" lvl="1" indent="-469900" algn="just">
              <a:lnSpc>
                <a:spcPct val="125000"/>
              </a:lnSpc>
            </a:pPr>
            <a:endParaRPr lang="zh-CN" altLang="en-US" sz="20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469900" lvl="1" indent="-469900" algn="just">
              <a:lnSpc>
                <a:spcPct val="125000"/>
              </a:lnSpc>
            </a:pPr>
            <a:endParaRPr lang="en-US" altLang="zh-CN" sz="20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9F2BA97-E863-EB4E-9716-A4582223A920}"/>
              </a:ext>
            </a:extLst>
          </p:cNvPr>
          <p:cNvSpPr txBox="1"/>
          <p:nvPr/>
        </p:nvSpPr>
        <p:spPr>
          <a:xfrm>
            <a:off x="668527" y="4321557"/>
            <a:ext cx="9622151" cy="2097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 algn="just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用以体现用户特征</a:t>
            </a:r>
            <a:endParaRPr lang="en-US" altLang="zh-CN" sz="2400" dirty="0">
              <a:solidFill>
                <a:srgbClr val="002060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lvl="1" indent="-457200" algn="just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不是真实的人、但是真实用户特征的综合</a:t>
            </a:r>
            <a:endParaRPr lang="en-US" altLang="zh-CN" sz="2400" dirty="0">
              <a:solidFill>
                <a:srgbClr val="002060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lvl="1" indent="-457200" algn="just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不是理想用户</a:t>
            </a:r>
            <a:endParaRPr lang="en-US" altLang="zh-CN" sz="2400" dirty="0">
              <a:solidFill>
                <a:srgbClr val="002060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lvl="1" indent="-457200" algn="just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为使角色鲜活生动，为其赋予姓名、个性特征、目标、背景等</a:t>
            </a:r>
            <a:endParaRPr lang="en-US" altLang="zh-CN" sz="2400" dirty="0">
              <a:solidFill>
                <a:srgbClr val="002060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147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98905993-7A44-AF4B-A23D-620776FD1962}"/>
              </a:ext>
            </a:extLst>
          </p:cNvPr>
          <p:cNvSpPr txBox="1">
            <a:spLocks/>
          </p:cNvSpPr>
          <p:nvPr/>
        </p:nvSpPr>
        <p:spPr>
          <a:xfrm>
            <a:off x="640690" y="884560"/>
            <a:ext cx="3183166" cy="39806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lvl="1" indent="-469900" algn="just">
              <a:lnSpc>
                <a:spcPct val="125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用户体验地图</a:t>
            </a:r>
            <a:r>
              <a:rPr lang="zh-CN" altLang="en-US" sz="2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是</a:t>
            </a:r>
            <a:r>
              <a:rPr lang="zh-CN" altLang="en-US" sz="2400" dirty="0">
                <a:solidFill>
                  <a:srgbClr val="00206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从角色视角出发</a:t>
            </a:r>
            <a:r>
              <a:rPr lang="zh-CN" altLang="en-US" sz="2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，直观呈现其互动与体验的过程。</a:t>
            </a:r>
          </a:p>
          <a:p>
            <a:pPr marL="469900" lvl="1" indent="-469900" algn="just">
              <a:lnSpc>
                <a:spcPct val="125000"/>
              </a:lnSpc>
            </a:pPr>
            <a:r>
              <a:rPr lang="zh-CN" altLang="en-US" sz="2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目标是深入了解客户体验过程中每个阶段的关键事件，以及促使客户从一个阶段迈向下一个阶段的驱动力。</a:t>
            </a:r>
          </a:p>
          <a:p>
            <a:pPr marL="469900" lvl="1" indent="-469900" algn="just">
              <a:lnSpc>
                <a:spcPct val="125000"/>
              </a:lnSpc>
            </a:pPr>
            <a:endParaRPr lang="zh-CN" altLang="en-US" sz="20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469900" lvl="1" indent="-469900" algn="just">
              <a:lnSpc>
                <a:spcPct val="125000"/>
              </a:lnSpc>
            </a:pPr>
            <a:endParaRPr lang="en-US" altLang="zh-CN" sz="20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F3A3A5D-3FC0-7644-9441-57491BDAA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237" y="648898"/>
            <a:ext cx="8251862" cy="6188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0255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98905993-7A44-AF4B-A23D-620776FD1962}"/>
              </a:ext>
            </a:extLst>
          </p:cNvPr>
          <p:cNvSpPr txBox="1">
            <a:spLocks/>
          </p:cNvSpPr>
          <p:nvPr/>
        </p:nvSpPr>
        <p:spPr>
          <a:xfrm>
            <a:off x="640690" y="884560"/>
            <a:ext cx="2892219" cy="39806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lvl="1" indent="-469900" algn="just">
              <a:lnSpc>
                <a:spcPct val="125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同理心地图</a:t>
            </a:r>
            <a:r>
              <a:rPr lang="zh-CN" altLang="en-US" sz="2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关注用户的所思、所想、所说、所做，来洞察潜在问题，并拟定设计策略。</a:t>
            </a:r>
            <a:endParaRPr lang="zh-CN" altLang="en-US" sz="20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469900" lvl="1" indent="-469900" algn="just">
              <a:lnSpc>
                <a:spcPct val="125000"/>
              </a:lnSpc>
            </a:pPr>
            <a:endParaRPr lang="en-US" altLang="zh-CN" sz="20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8" name="Picture 2" descr="謝承邑 《用UIUX打造成功社群經營！》系列文章 同理心地圖示範">
            <a:extLst>
              <a:ext uri="{FF2B5EF4-FFF2-40B4-BE49-F238E27FC236}">
                <a16:creationId xmlns:a16="http://schemas.microsoft.com/office/drawing/2014/main" id="{4AB14872-E206-B447-80D7-BE98113CE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075" y="1094144"/>
            <a:ext cx="8236925" cy="509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590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03CD10-7CA6-944C-820C-1F99A2037040}"/>
              </a:ext>
            </a:extLst>
          </p:cNvPr>
          <p:cNvSpPr txBox="1"/>
          <p:nvPr/>
        </p:nvSpPr>
        <p:spPr>
          <a:xfrm>
            <a:off x="885823" y="1051750"/>
            <a:ext cx="11019663" cy="257814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469900" indent="-469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/>
            </a:lvl1pPr>
            <a:lvl2pPr marL="0" lvl="1" indent="0" algn="just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defRPr>
            </a:lvl2pPr>
            <a:lvl3pPr marL="1304925" indent="-3956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/>
            </a:lvl3pPr>
            <a:lvl4pPr marL="1694180" indent="-3873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/>
            </a:lvl4pPr>
            <a:lvl5pPr marL="20942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9pPr>
          </a:lstStyle>
          <a:p>
            <a:pPr lvl="1"/>
            <a:r>
              <a:rPr lang="zh-CN" altLang="en-US" b="1" dirty="0"/>
              <a:t>范围层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主要考虑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产品功能规格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和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内容需求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，分别针对工具类产品和内容类产品。</a:t>
            </a:r>
            <a:endParaRPr lang="en-US" altLang="zh-CN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769904A-BC56-9C4C-9B38-481366F18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169" y="2149582"/>
            <a:ext cx="5310317" cy="4480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406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03CD10-7CA6-944C-820C-1F99A2037040}"/>
              </a:ext>
            </a:extLst>
          </p:cNvPr>
          <p:cNvSpPr txBox="1"/>
          <p:nvPr/>
        </p:nvSpPr>
        <p:spPr>
          <a:xfrm>
            <a:off x="885823" y="1051750"/>
            <a:ext cx="11019663" cy="257814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469900" indent="-469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/>
            </a:lvl1pPr>
            <a:lvl2pPr marL="0" lvl="1" indent="0" algn="just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defRPr>
            </a:lvl2pPr>
            <a:lvl3pPr marL="1304925" indent="-3956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/>
            </a:lvl3pPr>
            <a:lvl4pPr marL="1694180" indent="-3873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/>
            </a:lvl4pPr>
            <a:lvl5pPr marL="20942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9pPr>
          </a:lstStyle>
          <a:p>
            <a:pPr lvl="1"/>
            <a:r>
              <a:rPr lang="zh-CN" altLang="en-US" b="1" dirty="0"/>
              <a:t>结构层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主要根据需求优先级，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建立产品功能和内容之间的结构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，它是一个将产品实际需求从抽象转为具象信息的中间层，用来设计用户最终是如何到达产品某个功能页面，主要包含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交互设计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与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信息架构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：</a:t>
            </a:r>
            <a:endParaRPr lang="en-US" altLang="zh-CN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457200" lvl="1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交互设计</a:t>
            </a:r>
            <a:r>
              <a:rPr lang="zh-CN" altLang="en-US" b="1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：明确用户行为，响应用户行为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信息架构</a:t>
            </a:r>
            <a:r>
              <a:rPr lang="zh-CN" altLang="en-US" b="1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：组织与管理、分类、顺序排列的信息结构</a:t>
            </a:r>
          </a:p>
          <a:p>
            <a:pPr lvl="1"/>
            <a:endParaRPr lang="zh-CN" altLang="en-US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lvl="1"/>
            <a:endParaRPr lang="en-US" altLang="zh-CN" dirty="0"/>
          </a:p>
        </p:txBody>
      </p:sp>
      <p:pic>
        <p:nvPicPr>
          <p:cNvPr id="9" name="Picture 2" descr="用户体验结构层">
            <a:extLst>
              <a:ext uri="{FF2B5EF4-FFF2-40B4-BE49-F238E27FC236}">
                <a16:creationId xmlns:a16="http://schemas.microsoft.com/office/drawing/2014/main" id="{D47AF957-EE9F-C843-A165-9F50288FD4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9" t="24617" r="3046" b="21096"/>
          <a:stretch/>
        </p:blipFill>
        <p:spPr bwMode="auto">
          <a:xfrm>
            <a:off x="926042" y="4024036"/>
            <a:ext cx="8773808" cy="2621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670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03CD10-7CA6-944C-820C-1F99A2037040}"/>
              </a:ext>
            </a:extLst>
          </p:cNvPr>
          <p:cNvSpPr txBox="1"/>
          <p:nvPr/>
        </p:nvSpPr>
        <p:spPr>
          <a:xfrm>
            <a:off x="885823" y="1051751"/>
            <a:ext cx="11019663" cy="80814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469900" indent="-469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/>
            </a:lvl1pPr>
            <a:lvl2pPr marL="0" lvl="1" indent="0" algn="just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defRPr>
            </a:lvl2pPr>
            <a:lvl3pPr marL="1304925" indent="-3956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/>
            </a:lvl3pPr>
            <a:lvl4pPr marL="1694180" indent="-3873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/>
            </a:lvl4pPr>
            <a:lvl5pPr marL="20942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9pPr>
          </a:lstStyle>
          <a:p>
            <a:pPr lvl="1"/>
            <a:r>
              <a:rPr lang="zh-CN" altLang="en-US" b="1" dirty="0"/>
              <a:t>结构层</a:t>
            </a:r>
            <a:r>
              <a:rPr lang="zh-CN" altLang="en-US" dirty="0"/>
              <a:t>设计方案通常通过</a:t>
            </a:r>
            <a:r>
              <a:rPr lang="zh-CN" altLang="en-US" sz="2800" dirty="0">
                <a:solidFill>
                  <a:schemeClr val="accent2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用户流程图</a:t>
            </a:r>
            <a:r>
              <a:rPr lang="zh-CN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、信息架构图等体现。</a:t>
            </a:r>
            <a:endParaRPr lang="zh-CN" altLang="en-US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lvl="1"/>
            <a:endParaRPr lang="en-US" altLang="zh-CN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3F388A5-A674-3344-9AE9-070208BA5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84339"/>
            <a:ext cx="3565278" cy="49444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13EFDF4F-E29C-1F46-B376-03071FC2D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1709254"/>
            <a:ext cx="6734177" cy="49863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727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03CD10-7CA6-944C-820C-1F99A2037040}"/>
              </a:ext>
            </a:extLst>
          </p:cNvPr>
          <p:cNvSpPr txBox="1"/>
          <p:nvPr/>
        </p:nvSpPr>
        <p:spPr>
          <a:xfrm>
            <a:off x="885823" y="1051751"/>
            <a:ext cx="11019663" cy="80814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469900" indent="-469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/>
            </a:lvl1pPr>
            <a:lvl2pPr marL="0" lvl="1" indent="0" algn="just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defRPr>
            </a:lvl2pPr>
            <a:lvl3pPr marL="1304925" indent="-3956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/>
            </a:lvl3pPr>
            <a:lvl4pPr marL="1694180" indent="-3873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/>
            </a:lvl4pPr>
            <a:lvl5pPr marL="20942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9pPr>
          </a:lstStyle>
          <a:p>
            <a:pPr lvl="1"/>
            <a:r>
              <a:rPr lang="zh-CN" altLang="en-US" b="1" dirty="0"/>
              <a:t>结构层</a:t>
            </a:r>
            <a:r>
              <a:rPr lang="zh-CN" altLang="en-US" dirty="0"/>
              <a:t>设计方案通常通过</a:t>
            </a:r>
            <a:r>
              <a:rPr lang="zh-CN" altLang="en-US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用户流程图</a:t>
            </a:r>
            <a:r>
              <a:rPr lang="zh-CN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zh-CN" altLang="en-US" sz="2800" dirty="0">
                <a:solidFill>
                  <a:schemeClr val="accent2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信息架构图</a:t>
            </a:r>
            <a:r>
              <a:rPr lang="zh-CN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等体现。</a:t>
            </a:r>
            <a:endParaRPr lang="zh-CN" altLang="en-US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lvl="1"/>
            <a:endParaRPr lang="en-US" altLang="zh-CN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6FD7A17-F94C-3848-B22A-E7F347AF2B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6913"/>
          <a:stretch/>
        </p:blipFill>
        <p:spPr bwMode="auto">
          <a:xfrm>
            <a:off x="1031873" y="3913398"/>
            <a:ext cx="6390857" cy="273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A4A1630F-B0F2-E042-92E9-B58F79DC4B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87" b="10287"/>
          <a:stretch/>
        </p:blipFill>
        <p:spPr bwMode="auto">
          <a:xfrm>
            <a:off x="1031873" y="1675142"/>
            <a:ext cx="6390857" cy="217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1125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03CD10-7CA6-944C-820C-1F99A2037040}"/>
              </a:ext>
            </a:extLst>
          </p:cNvPr>
          <p:cNvSpPr txBox="1"/>
          <p:nvPr/>
        </p:nvSpPr>
        <p:spPr>
          <a:xfrm>
            <a:off x="885823" y="1051750"/>
            <a:ext cx="11019663" cy="53669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469900" indent="-469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/>
            </a:lvl1pPr>
            <a:lvl2pPr marL="0" lvl="1" indent="0" algn="just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defRPr>
            </a:lvl2pPr>
            <a:lvl3pPr marL="1304925" indent="-3956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/>
            </a:lvl3pPr>
            <a:lvl4pPr marL="1694180" indent="-3873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/>
            </a:lvl4pPr>
            <a:lvl5pPr marL="20942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9pPr>
          </a:lstStyle>
          <a:p>
            <a:pPr lvl="1"/>
            <a:r>
              <a:rPr lang="zh-CN" altLang="en-US" b="1" dirty="0"/>
              <a:t>框架层</a:t>
            </a:r>
            <a:r>
              <a:rPr lang="zh-CN" altLang="en-US" dirty="0"/>
              <a:t>优化整体设计布局，确定详细的界面外观、导航和信息设计。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线框设计：将这个页面做好规划，明确产品设计模块间的逻辑关系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界面设计</a:t>
            </a:r>
            <a:r>
              <a:rPr lang="zh-CN" altLang="en-US" b="1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：考虑可交互元素的布局，让用户一眼就要看到“最重要的东西”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导航设计</a:t>
            </a:r>
            <a:r>
              <a:rPr lang="zh-CN" altLang="en-US" b="1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：考虑在产品设计中引导用户移动的元素的安排，提供用户去某个地方的能力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信息设计</a:t>
            </a:r>
            <a:r>
              <a:rPr lang="zh-CN" altLang="en-US" b="1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：考虑传达给用户的信息要素的排布，分组和整理散乱的信息，将创意想法传递给用户</a:t>
            </a:r>
          </a:p>
          <a:p>
            <a:pPr lvl="1"/>
            <a:endParaRPr lang="zh-CN" altLang="en-US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72340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03CD10-7CA6-944C-820C-1F99A2037040}"/>
              </a:ext>
            </a:extLst>
          </p:cNvPr>
          <p:cNvSpPr txBox="1"/>
          <p:nvPr/>
        </p:nvSpPr>
        <p:spPr>
          <a:xfrm>
            <a:off x="885823" y="1051750"/>
            <a:ext cx="11019663" cy="53669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469900" indent="-469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/>
            </a:lvl1pPr>
            <a:lvl2pPr marL="0" lvl="1" indent="0" algn="just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defRPr>
            </a:lvl2pPr>
            <a:lvl3pPr marL="1304925" indent="-3956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/>
            </a:lvl3pPr>
            <a:lvl4pPr marL="1694180" indent="-3873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/>
            </a:lvl4pPr>
            <a:lvl5pPr marL="20942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9pPr>
          </a:lstStyle>
          <a:p>
            <a:pPr lvl="1"/>
            <a:r>
              <a:rPr lang="zh-CN" altLang="en-US" b="1" dirty="0"/>
              <a:t>框架层</a:t>
            </a:r>
            <a:r>
              <a:rPr lang="zh-CN" altLang="en-US" dirty="0"/>
              <a:t>优化整体设计布局，确定详细的界面外观、导航和信息设计。</a:t>
            </a:r>
          </a:p>
          <a:p>
            <a:pPr lvl="1"/>
            <a:endParaRPr lang="zh-CN" altLang="en-US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lvl="1"/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A8C7D3-4E30-FE4A-8382-B0961500D516}"/>
              </a:ext>
            </a:extLst>
          </p:cNvPr>
          <p:cNvSpPr txBox="1"/>
          <p:nvPr/>
        </p:nvSpPr>
        <p:spPr>
          <a:xfrm>
            <a:off x="526473" y="50846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9" name="Picture 2" descr="线框状态">
            <a:extLst>
              <a:ext uri="{FF2B5EF4-FFF2-40B4-BE49-F238E27FC236}">
                <a16:creationId xmlns:a16="http://schemas.microsoft.com/office/drawing/2014/main" id="{F1EA6A4F-9697-6D44-B531-4B80AB71C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841" y="1859207"/>
            <a:ext cx="6203478" cy="348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用户体验5要素你用对了吗？">
            <a:extLst>
              <a:ext uri="{FF2B5EF4-FFF2-40B4-BE49-F238E27FC236}">
                <a16:creationId xmlns:a16="http://schemas.microsoft.com/office/drawing/2014/main" id="{88BC0B7C-2F7F-1544-BB8E-3F326DF5D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042" y="1859207"/>
            <a:ext cx="4469180" cy="219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1C0EFDE-B927-7841-9763-8E8AC4A1AD2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28006"/>
          <a:stretch/>
        </p:blipFill>
        <p:spPr>
          <a:xfrm>
            <a:off x="926042" y="4193636"/>
            <a:ext cx="4469180" cy="265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2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03CD10-7CA6-944C-820C-1F99A2037040}"/>
              </a:ext>
            </a:extLst>
          </p:cNvPr>
          <p:cNvSpPr txBox="1"/>
          <p:nvPr/>
        </p:nvSpPr>
        <p:spPr>
          <a:xfrm>
            <a:off x="885823" y="1051750"/>
            <a:ext cx="11019663" cy="53669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469900" indent="-469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/>
            </a:lvl1pPr>
            <a:lvl2pPr marL="0" lvl="1" indent="0" algn="just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defRPr>
            </a:lvl2pPr>
            <a:lvl3pPr marL="1304925" indent="-3956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/>
            </a:lvl3pPr>
            <a:lvl4pPr marL="1694180" indent="-3873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/>
            </a:lvl4pPr>
            <a:lvl5pPr marL="20942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9pPr>
          </a:lstStyle>
          <a:p>
            <a:pPr lvl="1"/>
            <a:r>
              <a:rPr lang="zh-CN" altLang="en-US" b="1" dirty="0"/>
              <a:t>表现层</a:t>
            </a:r>
            <a:r>
              <a:rPr lang="zh-CN" altLang="en-US" dirty="0"/>
              <a:t>实际上是整个产品功能形态及设计内容的整体视觉感知呈现，</a:t>
            </a:r>
            <a:r>
              <a:rPr lang="zh-CN" altLang="en-US" dirty="0">
                <a:latin typeface="SimHei" panose="02010609060101010101" pitchFamily="49" charset="-122"/>
              </a:rPr>
              <a:t>包括字体、颜色、图标等。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在设计当中利用颜色及空间划分视觉层级，通过不同平台来思考设计表现形式，梳理表现样式形成视觉规范性及交互统一性，让用户轻松看到产品的核心内容及界面的核心操作。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视觉设计</a:t>
            </a:r>
            <a:r>
              <a:rPr lang="zh-CN" altLang="en-US" b="1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：正确地延续上层确立的产品思路，给予相应的产品的视觉效果支持</a:t>
            </a:r>
            <a:endParaRPr lang="en-US" altLang="zh-CN" b="1" dirty="0">
              <a:solidFill>
                <a:srgbClr val="00206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lvl="1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对比和引导：吸引用户的注意力带关键位置，并引导用户去完成目标任务</a:t>
            </a:r>
            <a:endParaRPr lang="en-US" altLang="zh-CN" b="1" dirty="0">
              <a:solidFill>
                <a:srgbClr val="00206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lvl="1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统一性：内外部一致性，配色方案排版保持大体一致性，可以使产品设计得到有效传达</a:t>
            </a:r>
          </a:p>
          <a:p>
            <a:pPr lvl="1"/>
            <a:endParaRPr lang="zh-CN" altLang="en-US" sz="28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5602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42" y="205188"/>
            <a:ext cx="46019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以用户为中心的产品设计</a:t>
            </a:r>
            <a:endParaRPr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689" y="439330"/>
            <a:ext cx="245135" cy="211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1230" y="203669"/>
            <a:ext cx="434594" cy="269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2511" y="227838"/>
            <a:ext cx="1712975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03CD10-7CA6-944C-820C-1F99A2037040}"/>
              </a:ext>
            </a:extLst>
          </p:cNvPr>
          <p:cNvSpPr txBox="1"/>
          <p:nvPr/>
        </p:nvSpPr>
        <p:spPr>
          <a:xfrm>
            <a:off x="885823" y="1051750"/>
            <a:ext cx="11019663" cy="53669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469900" indent="-469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/>
            </a:lvl1pPr>
            <a:lvl2pPr marL="0" lvl="1" indent="0" algn="just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defRPr>
            </a:lvl2pPr>
            <a:lvl3pPr marL="1304925" indent="-3956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/>
            </a:lvl3pPr>
            <a:lvl4pPr marL="1694180" indent="-3873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/>
            </a:lvl4pPr>
            <a:lvl5pPr marL="20942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9pPr>
          </a:lstStyle>
          <a:p>
            <a:pPr lvl="1"/>
            <a:r>
              <a:rPr lang="zh-CN" altLang="en-US" b="1" dirty="0"/>
              <a:t>表现层</a:t>
            </a:r>
            <a:r>
              <a:rPr lang="zh-CN" altLang="en-US" dirty="0"/>
              <a:t>实际上是整个产品功能形态及设计内容的整体视觉感知呈现，</a:t>
            </a:r>
            <a:r>
              <a:rPr lang="zh-CN" altLang="en-US" dirty="0">
                <a:latin typeface="SimHei" panose="02010609060101010101" pitchFamily="49" charset="-122"/>
              </a:rPr>
              <a:t>包括字体、颜色、图标等。</a:t>
            </a:r>
            <a:endParaRPr lang="en-US" altLang="zh-CN" dirty="0"/>
          </a:p>
        </p:txBody>
      </p:sp>
      <p:pic>
        <p:nvPicPr>
          <p:cNvPr id="7" name="Picture 2" descr="用户体验表现层">
            <a:extLst>
              <a:ext uri="{FF2B5EF4-FFF2-40B4-BE49-F238E27FC236}">
                <a16:creationId xmlns:a16="http://schemas.microsoft.com/office/drawing/2014/main" id="{5A9C3B8E-60DD-934E-925A-62FA00736A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6" t="30930" r="3829" b="28473"/>
          <a:stretch/>
        </p:blipFill>
        <p:spPr bwMode="auto">
          <a:xfrm>
            <a:off x="776189" y="2567778"/>
            <a:ext cx="10850592" cy="253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660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1237</Words>
  <Application>Microsoft Macintosh PowerPoint</Application>
  <PresentationFormat>宽屏</PresentationFormat>
  <Paragraphs>82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等线</vt:lpstr>
      <vt:lpstr>等线 Light</vt:lpstr>
      <vt:lpstr>SimHei</vt:lpstr>
      <vt:lpstr>KaiTi</vt:lpstr>
      <vt:lpstr>Microsoft YaHei</vt:lpstr>
      <vt:lpstr>Microsoft YaHei</vt:lpstr>
      <vt:lpstr>Arial</vt:lpstr>
      <vt:lpstr>Calibri</vt:lpstr>
      <vt:lpstr>Wingdings</vt:lpstr>
      <vt:lpstr>Office 主题​​</vt:lpstr>
      <vt:lpstr>检索系统 设计与开发</vt:lpstr>
      <vt:lpstr>实验要求</vt:lpstr>
      <vt:lpstr>实验要求</vt:lpstr>
      <vt:lpstr>实验要求</vt:lpstr>
      <vt:lpstr>以用户为中心的产品设计</vt:lpstr>
      <vt:lpstr>以用户为中心的产品设计</vt:lpstr>
      <vt:lpstr>以用户为中心的产品设计</vt:lpstr>
      <vt:lpstr>以用户为中心的产品设计</vt:lpstr>
      <vt:lpstr>以用户为中心的产品设计</vt:lpstr>
      <vt:lpstr>以用户为中心的产品设计</vt:lpstr>
      <vt:lpstr>以用户为中心的产品设计</vt:lpstr>
      <vt:lpstr>以用户为中心的产品设计</vt:lpstr>
      <vt:lpstr>以用户为中心的产品设计</vt:lpstr>
      <vt:lpstr>以用户为中心的产品设计</vt:lpstr>
      <vt:lpstr>以用户为中心的产品设计</vt:lpstr>
      <vt:lpstr>以用户为中心的产品设计</vt:lpstr>
      <vt:lpstr>以用户为中心的产品设计</vt:lpstr>
      <vt:lpstr>以用户为中心的产品设计</vt:lpstr>
      <vt:lpstr>以用户为中心的产品设计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自动分类实验</dc:title>
  <dc:creator>林旭 王</dc:creator>
  <cp:lastModifiedBy>林旭 王</cp:lastModifiedBy>
  <cp:revision>14</cp:revision>
  <dcterms:created xsi:type="dcterms:W3CDTF">2026-04-27T02:55:56Z</dcterms:created>
  <dcterms:modified xsi:type="dcterms:W3CDTF">2026-05-13T07:10:53Z</dcterms:modified>
</cp:coreProperties>
</file>